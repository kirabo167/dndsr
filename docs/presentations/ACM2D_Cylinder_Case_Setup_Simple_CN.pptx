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881360" cy="4754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Noto Sans CJK SC"/>
              </a:rPr>
              <a:t>二维圆柱绕流：计算域与物理条件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1155680" cy="320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SC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25603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Noto Sans CJK SC"/>
              </a:rPr>
              <a:t>Runzhi Ma · DNDSR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5532120" cy="48006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2011680" cy="32918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Noto Sans CJK SC"/>
              </a:rPr>
              <a:t>算例基本信息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846320" cy="36118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900"/>
              </a:spcAft>
            </a:pPr>
            <a:r>
              <a:rPr sz="1450" b="1">
                <a:solidFill>
                  <a:srgbClr val="1F4E79"/>
                </a:solidFill>
                <a:latin typeface="Noto Sans CJK SC"/>
              </a:rPr>
              <a:t>求解模型：</a:t>
            </a:r>
            <a:r>
              <a:rPr sz="1450">
                <a:solidFill>
                  <a:srgbClr val="222222"/>
                </a:solidFill>
                <a:latin typeface="Noto Sans CJK SC"/>
              </a:rPr>
              <a:t>常密度ACM，二维稳态层流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F4E79"/>
                </a:solidFill>
                <a:latin typeface="Noto Sans CJK SC"/>
              </a:rPr>
              <a:t>圆柱尺寸：</a:t>
            </a:r>
            <a:r>
              <a:rPr sz="1450">
                <a:solidFill>
                  <a:srgbClr val="222222"/>
                </a:solidFill>
                <a:latin typeface="Noto Sans CJK SC"/>
              </a:rPr>
              <a:t>中心 (0,0)，直径 D=1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F4E79"/>
                </a:solidFill>
                <a:latin typeface="Noto Sans CJK SC"/>
              </a:rPr>
              <a:t>计算域：</a:t>
            </a:r>
            <a:r>
              <a:rPr sz="1450">
                <a:solidFill>
                  <a:srgbClr val="222222"/>
                </a:solidFill>
                <a:latin typeface="Noto Sans CJK SC"/>
              </a:rPr>
              <a:t>x≈[-100,100]，y≈[-99.80005,100]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F4E79"/>
                </a:solidFill>
                <a:latin typeface="Noto Sans CJK SC"/>
              </a:rPr>
              <a:t>加密区域：</a:t>
            </a:r>
            <a:r>
              <a:rPr sz="1450">
                <a:solidFill>
                  <a:srgbClr val="222222"/>
                </a:solidFill>
                <a:latin typeface="Noto Sans CJK SC"/>
              </a:rPr>
              <a:t>x=[-2,30]，y=[-2,2]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F4E79"/>
                </a:solidFill>
                <a:latin typeface="Noto Sans CJK SC"/>
              </a:rPr>
              <a:t>来流条件：</a:t>
            </a:r>
            <a:r>
              <a:rPr sz="1450">
                <a:solidFill>
                  <a:srgbClr val="222222"/>
                </a:solidFill>
                <a:latin typeface="Noto Sans CJK SC"/>
              </a:rPr>
              <a:t>ρ₀=1，U∞=1，p∞=0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F4E79"/>
                </a:solidFill>
                <a:latin typeface="Noto Sans CJK SC"/>
              </a:rPr>
              <a:t>雷诺数：</a:t>
            </a:r>
            <a:r>
              <a:rPr sz="1450">
                <a:solidFill>
                  <a:srgbClr val="222222"/>
                </a:solidFill>
                <a:latin typeface="Noto Sans CJK SC"/>
              </a:rPr>
              <a:t>Re_D=20，μ=ρ₀U∞D/Re_D=0.05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1F4E79"/>
                </a:solidFill>
                <a:latin typeface="Noto Sans CJK SC"/>
              </a:rPr>
              <a:t>ACM参数：</a:t>
            </a:r>
            <a:r>
              <a:rPr sz="1450">
                <a:solidFill>
                  <a:srgbClr val="222222"/>
                </a:solidFill>
                <a:latin typeface="Noto Sans CJK SC"/>
              </a:rPr>
              <a:t>α=0.5，β²=4，人工声速尺度为2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28232" y="1170432"/>
            <a:ext cx="519379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967728" y="2194560"/>
            <a:ext cx="3931920" cy="146304"/>
          </a:xfrm>
          <a:prstGeom prst="rightArrow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967728" y="2880360"/>
            <a:ext cx="3931920" cy="146304"/>
          </a:xfrm>
          <a:prstGeom prst="rightArrow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967728" y="3566160"/>
            <a:ext cx="3931920" cy="146304"/>
          </a:xfrm>
          <a:prstGeom prst="rightArrow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967728" y="4251960"/>
            <a:ext cx="3931920" cy="146304"/>
          </a:xfrm>
          <a:prstGeom prst="rightArrow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85632" y="2450592"/>
            <a:ext cx="1417320" cy="1417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2962656"/>
            <a:ext cx="932688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Noto Sans CJK SC"/>
              </a:rPr>
              <a:t>D=1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746504"/>
            <a:ext cx="1143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Noto Sans CJK SC"/>
              </a:rPr>
              <a:t>U∞=1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965192"/>
            <a:ext cx="315468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600" b="1">
                <a:solidFill>
                  <a:srgbClr val="ED7D31"/>
                </a:solidFill>
                <a:latin typeface="Noto Sans CJK SC"/>
              </a:rPr>
              <a:t>Re_D=20：稳态层流基准算例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5449824"/>
            <a:ext cx="418795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Noto Sans CJK SC"/>
              </a:rPr>
              <a:t>用于验证压力—速度耦合、壁面条件和稳态收敛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881360" cy="4754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Noto Sans CJK SC"/>
              </a:rPr>
              <a:t>网格、初始场与边界条件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1155680" cy="320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SC"/>
              </a:rPr>
              <a:t>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25603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Noto Sans CJK SC"/>
              </a:rPr>
              <a:t>Runzhi Ma · DNDSR</a:t>
            </a:r>
          </a:p>
        </p:txBody>
      </p:sp>
      <p:pic>
        <p:nvPicPr>
          <p:cNvPr id="6" name="Picture 5" descr="mesh_ne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88720"/>
            <a:ext cx="6537960" cy="28751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681728"/>
            <a:ext cx="6473952" cy="1225296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928616"/>
            <a:ext cx="9601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Noto Sans CJK SC"/>
              </a:rPr>
              <a:t>网格统计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4855464"/>
            <a:ext cx="4992624" cy="6675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Noto Sans CJK SC"/>
              </a:rPr>
              <a:t>23,791 单元（9,548 三角形 + 14,243 四边形）
19,067 节点；WALL 80条边；FAR 20条边；不升阶、不二分。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0" y="1188720"/>
          <a:ext cx="431596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3090672"/>
              </a:tblGrid>
              <a:tr h="7543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4E79"/>
                          </a:solidFill>
                          <a:latin typeface="Noto Sans CJK SC"/>
                        </a:rPr>
                        <a:t>项目</a:t>
                      </a:r>
                    </a:p>
                  </a:txBody>
                  <a:tcPr marL="73152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4E79"/>
                          </a:solidFill>
                          <a:latin typeface="Noto Sans CJK SC"/>
                        </a:rPr>
                        <a:t>配置与处理方式</a:t>
                      </a:r>
                    </a:p>
                  </a:txBody>
                  <a:tcPr marL="73152" marR="54864" marT="27432" marB="27432">
                    <a:solidFill>
                      <a:srgbClr val="DDEBF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初始场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[u,v,w,p]=[1,0,0,0]，全域均匀来流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圆柱 WALL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BCWall；静止无滑移，面速度为0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壁面压力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由内部外推，近似 ∂p/∂n=0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外边界 FAR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BCFar；入射特征取远场值，出射特征内部外推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默认边界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Noto Sans CJK SC"/>
                        </a:rPr>
                        <a:t>未单独命名的外边界按 BCFar 处理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881360" cy="4754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Noto Sans CJK SC"/>
              </a:rPr>
              <a:t>数值方法、时间推进与并行设置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77824"/>
            <a:ext cx="11155680" cy="3200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SC"/>
              </a:rPr>
              <a:t>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25603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Noto Sans CJK SC"/>
              </a:rPr>
              <a:t>Runzhi Ma · DNDSR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197864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</a:tblGrid>
              <a:tr h="640080">
                <a:tc>
                  <a:txBody>
                    <a:bodyPr/>
                    <a:lstStyle/>
                    <a:p>
                      <a:r>
                        <a:rPr sz="1160" b="1">
                          <a:solidFill>
                            <a:srgbClr val="1F4E79"/>
                          </a:solidFill>
                          <a:latin typeface="Noto Sans CJK SC"/>
                        </a:rPr>
                        <a:t>空间离散</a:t>
                      </a:r>
                    </a:p>
                  </a:txBody>
                  <a:tcPr marL="73152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 b="1">
                          <a:solidFill>
                            <a:srgbClr val="1F4E79"/>
                          </a:solidFill>
                          <a:latin typeface="Noto Sans CJK SC"/>
                        </a:rPr>
                        <a:t>当前设置</a:t>
                      </a:r>
                    </a:p>
                  </a:txBody>
                  <a:tcPr marL="73152" marR="54864" marT="27432" marB="27432">
                    <a:solidFill>
                      <a:srgbClr val="DDEB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重构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Variational，maxOrder=2（二次多项式）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限制器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CWBAP，enableLimiter=true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积分阶数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intOrder=4，变分迭代3次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黎曼求解器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Roe，entropyFixRatio=0.05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黏性通量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 b="0">
                          <a:solidFill>
                            <a:srgbClr val="222222"/>
                          </a:solidFill>
                          <a:latin typeface="Noto Sans CJK SC"/>
                        </a:rPr>
                        <a:t>开启，dynamicViscosity=0.05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36208" y="1197864"/>
          <a:ext cx="5394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794760"/>
              </a:tblGrid>
              <a:tr h="640080">
                <a:tc>
                  <a:txBody>
                    <a:bodyPr/>
                    <a:lstStyle/>
                    <a:p>
                      <a:r>
                        <a:rPr sz="1120" b="1">
                          <a:solidFill>
                            <a:srgbClr val="1F4E79"/>
                          </a:solidFill>
                          <a:latin typeface="Noto Sans CJK SC"/>
                        </a:rPr>
                        <a:t>时间/线性求解</a:t>
                      </a:r>
                    </a:p>
                  </a:txBody>
                  <a:tcPr marL="73152" marR="54864" marT="27432" marB="27432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1">
                          <a:solidFill>
                            <a:srgbClr val="1F4E79"/>
                          </a:solidFill>
                          <a:latin typeface="Noto Sans CJK SC"/>
                        </a:rPr>
                        <a:t>当前设置</a:t>
                      </a:r>
                    </a:p>
                  </a:txBody>
                  <a:tcPr marL="73152" marR="54864" marT="27432" marB="27432">
                    <a:solidFill>
                      <a:srgbClr val="DDEB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推进方法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ImplicitEulerGMRES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局部时间步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CFL=2.0，dt_max=0.05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最大步数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nSteps=5000（当前无残差自动早停）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隐式内迭代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最多5次，松弛=0.8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GMRES / LU-SGS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0" b="0">
                          <a:solidFill>
                            <a:srgbClr val="222222"/>
                          </a:solidFill>
                          <a:latin typeface="Noto Sans CJK SC"/>
                        </a:rPr>
                        <a:t>m=20，restart=2，LU-SGS 2 sweeps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285232"/>
            <a:ext cx="11064240" cy="749808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04688"/>
            <a:ext cx="109728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Noto Sans CJK SC"/>
              </a:rPr>
              <a:t>32核运行：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486400"/>
            <a:ext cx="7726679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Mono CJK SC"/>
              </a:rPr>
              <a:t>OMP_NUM_THREADS=1 mpirun -np 32 ./app/acm2D.exe ../cases/acm2D/acm2D.json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19488" y="5486400"/>
            <a:ext cx="1664208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1200" b="1">
                <a:solidFill>
                  <a:srgbClr val="ED7D31"/>
                </a:solidFill>
                <a:latin typeface="Noto Sans CJK SC"/>
              </a:rPr>
              <a:t>稳态局部伪时间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二维圆柱绕流算例设置（简版）</dc:title>
  <dc:subject>ACM二维圆柱绕流配置条件</dc:subject>
  <dc:creator>Runzhi 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