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/mnt/ssd-SATARAID5/home/mrz/projects/DNDSR/src/ACM/README.md</a:t>
            </a:r>
          </a:p>
          <a:p>
            <a:r>
              <a:t>/mnt/ssd-SATARAID5/home/mrz/projects/DNDSR/src/ACM/ACM.hpp:20</a:t>
            </a:r>
          </a:p>
          <a:p>
            <a:r>
              <a:t>/mnt/ssd-SATARAID5/home/mrz/projects/DNDSR/src/ACM/ACMTurbulence.hpp:27</a:t>
            </a:r>
          </a:p>
          <a:p>
            <a:r>
              <a:t>/mnt/ssd-SATARAID5/home/mrz/projects/DNDSR/test/cpp/ACM</a:t>
            </a:r>
          </a:p>
          <a:p>
            <a:r>
              <a:t>/mnt/ssd-SATARAID5/home/mrz/projects/DNDSR/build/Testing/Temporary/LastTest.log</a:t>
            </a:r>
          </a:p>
          <a:p>
            <a:r>
              <a:t>本汇报依据当前源码。测试源码存在不代表本次重新运行了全部测试。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/mnt/ssd-SATARAID5/home/mrz/projects/DNDSR/src/ACM/ACM.cpp:133</a:t>
            </a:r>
          </a:p>
          <a:p>
            <a:r>
              <a:t>/mnt/ssd-SATARAID5/home/mrz/projects/DNDSR/src/ACM/ACM.cpp:163</a:t>
            </a:r>
          </a:p>
          <a:p>
            <a:r>
              <a:t>/mnt/ssd-SATARAID5/home/mrz/projects/DNDSR/src/ACM/ACM.cpp:645</a:t>
            </a:r>
          </a:p>
          <a:p>
            <a:r>
              <a:t>/mnt/ssd-SATARAID5/home/mrz/projects/DNDSR/src/ACM/ACMSettings.hpp:27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/mnt/ssd-SATARAID5/home/mrz/projects/DNDSR/src/ACM/ACM.cpp:163</a:t>
            </a:r>
          </a:p>
          <a:p>
            <a:r>
              <a:t>/mnt/ssd-SATARAID5/home/mrz/projects/DNDSR/src/ACM/ACM.cpp:175</a:t>
            </a:r>
          </a:p>
          <a:p>
            <a:r>
              <a:t>/mnt/ssd-SATARAID5/home/mrz/projects/DNDSR/src/ACM/ACMBDF2.cpp:55</a:t>
            </a:r>
          </a:p>
          <a:p>
            <a:r>
              <a:t>/mnt/ssd-SATARAID5/home/mrz/projects/DNDSR/cases/acm2D/acm2D_cylinder_Re3900_laminar_BDF2_LUSGS.json:17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/mnt/ssd-SATARAID5/home/mrz/projects/DNDSR/src/ACM/ACM.cpp:133</a:t>
            </a:r>
          </a:p>
          <a:p>
            <a:r>
              <a:t>/mnt/ssd-SATARAID5/home/mrz/projects/DNDSR/src/ACM/ACM.cpp:208</a:t>
            </a:r>
          </a:p>
          <a:p>
            <a:r>
              <a:t>/mnt/ssd-SATARAID5/home/mrz/projects/DNDSR/src/ACM/ACM.cpp:505</a:t>
            </a:r>
          </a:p>
          <a:p>
            <a:r>
              <a:t>/mnt/ssd-SATARAID5/home/mrz/projects/DNDSR/src/ACM/ACMEvaluator.hxx:443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/mnt/ssd-SATARAID5/home/mrz/projects/DNDSR/src/ACM/ACMConfig.hpp:30</a:t>
            </a:r>
          </a:p>
          <a:p>
            <a:r>
              <a:t>/mnt/ssd-SATARAID5/home/mrz/projects/DNDSR/src/ACM/ACMEvaluator.hxx:156</a:t>
            </a:r>
          </a:p>
          <a:p>
            <a:r>
              <a:t>/mnt/ssd-SATARAID5/home/mrz/projects/DNDSR/src/ACM/ACMEvaluator.hxx:263</a:t>
            </a:r>
          </a:p>
          <a:p>
            <a:r>
              <a:t>/mnt/ssd-SATARAID5/home/mrz/projects/DNDSR/src/ACM/ACMEvaluator.hxx:357</a:t>
            </a:r>
          </a:p>
          <a:p>
            <a:r>
              <a:t>/mnt/ssd-SATARAID5/home/mrz/projects/DNDSR/src/CFV/VRSettings.hpp:175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/mnt/ssd-SATARAID5/home/mrz/projects/DNDSR/src/ACM/ACMTime.hpp:27</a:t>
            </a:r>
          </a:p>
          <a:p>
            <a:r>
              <a:t>/mnt/ssd-SATARAID5/home/mrz/projects/DNDSR/src/ACM/ACMBDF2.cpp:47</a:t>
            </a:r>
          </a:p>
          <a:p>
            <a:r>
              <a:t>/mnt/ssd-SATARAID5/home/mrz/projects/DNDSR/src/ACM/ACMSolver.hxx:355</a:t>
            </a:r>
          </a:p>
          <a:p>
            <a:r>
              <a:t>/mnt/ssd-SATARAID5/home/mrz/projects/DNDSR/src/ACM/ACMSolver.hxx:509</a:t>
            </a:r>
          </a:p>
          <a:p>
            <a:r>
              <a:t>完整配置名称：ExplicitSSPRK3、ImplicitEulerBlockJacobi、ImplicitEulerLUSGS、ImplicitEulerGMRES、BDF2DualTimeLUSGS、BDF2DualTimeGMRES。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/mnt/ssd-SATARAID5/home/mrz/projects/DNDSR/cases/acm2D/acm2D_cylinder_Re3900_laminar_BDF2_LUSGS.json</a:t>
            </a:r>
          </a:p>
          <a:p>
            <a:r>
              <a:t>/mnt/ssd-SATARAID5/home/mrz/projects/DNDSR/data/mesh/CylinderA1.cgns</a:t>
            </a:r>
          </a:p>
          <a:p>
            <a:r>
              <a:t>已完成结果来源：/mnt/ssd-SATARAID5/home/mrz/.local/share/Trash/files/acm2D_CylinderRe3900_BDF2_LUSGS</a:t>
            </a:r>
          </a:p>
          <a:p>
            <a:r>
              <a:t>当前配置可能由用户运行中；本PPT没有启动或重跑求解器。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/mnt/ssd-SATARAID5/home/mrz/.local/share/Trash/files/acm2D_CylinderRe3900_BDF2_LUSGS</a:t>
            </a:r>
          </a:p>
          <a:p>
            <a:r>
              <a:t>{</a:t>
            </a:r>
          </a:p>
          <a:p>
            <a:r>
              <a:t>  "generated_at": "2026-09-03T20:48:54",</a:t>
            </a:r>
          </a:p>
          <a:p>
            <a:r>
              <a:t>  "data_source": "/mnt/ssd-SATARAID5/home/mrz/.local/share/Trash/files/acm2D_CylinderRe3900_BDF2_LUSGS",</a:t>
            </a:r>
          </a:p>
          <a:p>
            <a:r>
              <a:t>  "config_source": "/mnt/ssd-SATARAID5/home/mrz/projects/DNDSR/cases/acm2D/acm2D_cylinder_Re3900_laminar_BDF2_LUSGS.json",</a:t>
            </a:r>
          </a:p>
          <a:p>
            <a:r>
              <a:t>  "physical_steps": 4000,</a:t>
            </a:r>
          </a:p>
          <a:p>
            <a:r>
              <a:t>  "snapshot_count": 41,</a:t>
            </a:r>
          </a:p>
          <a:p>
            <a:r>
              <a:t>  "cell_count": 23791,</a:t>
            </a:r>
          </a:p>
          <a:p>
            <a:r>
              <a:t>  "final_time": 40.0,</a:t>
            </a:r>
          </a:p>
          <a:p>
            <a:r>
              <a:t>  "snapshot_interval": 100,</a:t>
            </a:r>
          </a:p>
          <a:p>
            <a:r>
              <a:t>  "mpi_ranks": 16,</a:t>
            </a:r>
          </a:p>
          <a:p>
            <a:r>
              <a:t>  "rho0": 1.0,</a:t>
            </a:r>
          </a:p>
          <a:p>
            <a:r>
              <a:t>  "density_is_config_constant": true,</a:t>
            </a:r>
          </a:p>
          <a:p>
            <a:r>
              <a:t>  "final_cell_extrema": {</a:t>
            </a:r>
          </a:p>
          <a:p>
            <a:r>
              <a:t>    "u": [</a:t>
            </a:r>
          </a:p>
          <a:p>
            <a:r>
              <a:t>      -0.7921089500006154,</a:t>
            </a:r>
          </a:p>
          <a:p>
            <a:r>
              <a:t>      1.8179333092505965</a:t>
            </a:r>
          </a:p>
          <a:p>
            <a:r>
              <a:t>    ],</a:t>
            </a:r>
          </a:p>
          <a:p>
            <a:r>
              <a:t>    "v": [</a:t>
            </a:r>
          </a:p>
          <a:p>
            <a:r>
              <a:t>      -1.363849970391218,</a:t>
            </a:r>
          </a:p>
          <a:p>
            <a:r>
              <a:t>      1.32600301754682</a:t>
            </a:r>
          </a:p>
          <a:p>
            <a:r>
              <a:t>    ],</a:t>
            </a:r>
          </a:p>
          <a:p>
            <a:r>
              <a:t>    "speed": [</a:t>
            </a:r>
          </a:p>
          <a:p>
            <a:r>
              <a:t>      0.00016486931371081958,</a:t>
            </a:r>
          </a:p>
          <a:p>
            <a:r>
              <a:t>      1.837652987088185</a:t>
            </a:r>
          </a:p>
          <a:p>
            <a:r>
              <a:t>    ],</a:t>
            </a:r>
          </a:p>
          <a:p>
            <a:r>
              <a:t>    "p": [</a:t>
            </a:r>
          </a:p>
          <a:p>
            <a:r>
              <a:t>      -1.9703471405585091,</a:t>
            </a:r>
          </a:p>
          <a:p>
            <a:r>
              <a:t>      0.5186434455837068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"global_snapshot_extrema": {</a:t>
            </a:r>
          </a:p>
          <a:p>
            <a:r>
              <a:t>    "u": [</a:t>
            </a:r>
          </a:p>
          <a:p>
            <a:r>
              <a:t>      -1.6740004815398946,</a:t>
            </a:r>
          </a:p>
          <a:p>
            <a:r>
              <a:t>      2.011317649668927</a:t>
            </a:r>
          </a:p>
          <a:p>
            <a:r>
              <a:t>    ],</a:t>
            </a:r>
          </a:p>
          <a:p>
            <a:r>
              <a:t>    "v": [</a:t>
            </a:r>
          </a:p>
          <a:p>
            <a:r>
              <a:t>      -1.4570936226084374,</a:t>
            </a:r>
          </a:p>
          <a:p>
            <a:r>
              <a:t>      1.5131897525189182</a:t>
            </a:r>
          </a:p>
          <a:p>
            <a:r>
              <a:t>    ],</a:t>
            </a:r>
          </a:p>
          <a:p>
            <a:r>
              <a:t>    "speed": [</a:t>
            </a:r>
          </a:p>
          <a:p>
            <a:r>
              <a:t>      0.00015478787109923857,</a:t>
            </a:r>
          </a:p>
          <a:p>
            <a:r>
              <a:t>      2.0134580458318383</a:t>
            </a:r>
          </a:p>
          <a:p>
            <a:r>
              <a:t>    ],</a:t>
            </a:r>
          </a:p>
          <a:p>
            <a:r>
              <a:t>    "p": [</a:t>
            </a:r>
          </a:p>
          <a:p>
            <a:r>
              <a:t>      -2.3268846596265904,</a:t>
            </a:r>
          </a:p>
          <a:p>
            <a:r>
              <a:t>      0.596298172677244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"last_initial_defect": 0.3085,</a:t>
            </a:r>
          </a:p>
          <a:p>
            <a:r>
              <a:t>  "last_final_defect": 0.01065,</a:t>
            </a:r>
          </a:p>
          <a:p>
            <a:r>
              <a:t>  "converged_step_count": 0,</a:t>
            </a:r>
          </a:p>
          <a:p>
            <a:r>
              <a:t>  "all_iterations_equal_15": true,</a:t>
            </a:r>
          </a:p>
          <a:p>
            <a:r>
              <a:t>  "media": {</a:t>
            </a:r>
          </a:p>
          <a:p>
            <a:r>
              <a:t>    "density": {</a:t>
            </a:r>
          </a:p>
          <a:p>
            <a:r>
              <a:t>      "name": "CylinderA1_Re3900_BDF2_density_contours_steps_0000_4000.mp4",</a:t>
            </a:r>
          </a:p>
          <a:p>
            <a:r>
              <a:t>      "bytes": 45442,</a:t>
            </a:r>
          </a:p>
          <a:p>
            <a:r>
              <a:t>      "sha256": "f812482731085e1d5cfc92837e0b83a7e3ca4371e854faff2a79bbb18c0db184"</a:t>
            </a:r>
          </a:p>
          <a:p>
            <a:r>
              <a:t>    },</a:t>
            </a:r>
          </a:p>
          <a:p>
            <a:r>
              <a:t>    "velocity": {</a:t>
            </a:r>
          </a:p>
          <a:p>
            <a:r>
              <a:t>      "name": "CylinderA1_Re3900_BDF2_velocity_contours_steps_0000_4000.mp4",</a:t>
            </a:r>
          </a:p>
          <a:p>
            <a:r>
              <a:t>      "bytes": 815972,</a:t>
            </a:r>
          </a:p>
          <a:p>
            <a:r>
              <a:t>      "sha256": "cf49fc28368d80c43bac77c1810fa1bece0d7e7727605c22030e50157cb5e07a"</a:t>
            </a:r>
          </a:p>
          <a:p>
            <a:r>
              <a:t>    },</a:t>
            </a:r>
          </a:p>
          <a:p>
            <a:r>
              <a:t>    "u": {</a:t>
            </a:r>
          </a:p>
          <a:p>
            <a:r>
              <a:t>      "name": "CylinderA1_Re3900_BDF2_u_contours_steps_0000_4000.mp4",</a:t>
            </a:r>
          </a:p>
          <a:p>
            <a:r>
              <a:t>      "bytes": 653773,</a:t>
            </a:r>
          </a:p>
          <a:p>
            <a:r>
              <a:t>      "sha256": "7c52879db7e5005b8c75dcd6175dc2dfe489871983b0c45c32bc8a057a20df03"</a:t>
            </a:r>
          </a:p>
          <a:p>
            <a:r>
              <a:t>    },</a:t>
            </a:r>
          </a:p>
          <a:p>
            <a:r>
              <a:t>    "pressure": {</a:t>
            </a:r>
          </a:p>
          <a:p>
            <a:r>
              <a:t>      "name": "CylinderA1_Re3900_BDF2_pressure_contours_steps_0000_4000.mp4",</a:t>
            </a:r>
          </a:p>
          <a:p>
            <a:r>
              <a:t>      "bytes": 530142,</a:t>
            </a:r>
          </a:p>
          <a:p>
            <a:r>
              <a:t>      "sha256": "79fe9ea566b8595c7b41245472e54e072d2278abf70c0a9c22f1337734fed01f"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/mnt/ssd-SATARAID5/home/mrz/projects/DNDSR/docs/presentations/assets/acm_modules_summary/media</a:t>
            </a:r>
          </a:p>
          <a:p>
            <a:r>
              <a:t>两段视频均嵌入PPTX。PowerPoint桌面版放映模式点击画面播放。结果来自16MPI完成的4000步计算；不是新的10000步运行。视频41个计算帧+12帧末帧停留，12fps，1280x720 H.264。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/mnt/ssd-SATARAID5/home/mrz/projects/DNDSR/docs/presentations/assets/acm_modules_summary/media</a:t>
            </a:r>
          </a:p>
          <a:p>
            <a:r>
              <a:t>压力视频读取Pressure；密度视频由rho0=1重建，不是密度输运结果。本次保留二维层流计算，不可据此声称真实Re3900三维转捩流的定量验证。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3.png"/><Relationship Id="rId6" Type="http://schemas.microsoft.com/office/2007/relationships/media" Target="../media/media2.mp4"/><Relationship Id="rId7" Type="http://schemas.openxmlformats.org/officeDocument/2006/relationships/video" Target="../media/media2.mp4"/><Relationship Id="rId8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microsoft.com/office/2007/relationships/media" Target="../media/media3.mp4"/><Relationship Id="rId4" Type="http://schemas.openxmlformats.org/officeDocument/2006/relationships/video" Target="../media/media3.mp4"/><Relationship Id="rId5" Type="http://schemas.openxmlformats.org/officeDocument/2006/relationships/image" Target="../media/image15.png"/><Relationship Id="rId6" Type="http://schemas.microsoft.com/office/2007/relationships/media" Target="../media/media4.mp4"/><Relationship Id="rId7" Type="http://schemas.openxmlformats.org/officeDocument/2006/relationships/video" Target="../media/media4.mp4"/><Relationship Id="rId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035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800" b="1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常密度 ACM：已完成的模块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492240"/>
            <a:ext cx="1051560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依据：当前 ACM 源码与测试记录；不采用旧审计中已过时的缺口结论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6492240"/>
            <a:ext cx="59436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lnSpc>
                <a:spcPct val="113000"/>
              </a:lnSpc>
              <a:spcAft>
                <a:spcPts val="900"/>
              </a:spcAft>
            </a:pPr>
            <a:r>
              <a:rPr sz="1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1/10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0352" y="1143000"/>
          <a:ext cx="1113739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28"/>
                <a:gridCol w="9198864"/>
              </a:tblGrid>
              <a:tr h="4206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模块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已实现内容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方程与通量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二维 / 三维 [u,v,w,p]；Turkel Γ；Roe / Rusanov；牛顿黏性应力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空间离散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有限体积面求积；FirstOrder、GreenGauss、Variational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限制器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LocalExtrema、WBAP、CWBAP；ACM 特征空间变换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时间与线性求解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SSPRK3；隐式 Euler；BDF2 双时间；块 Jacobi / LU-SGS / GMRES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工程化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CGNS、METIS、MPI 幽灵层、周期平移、JSON、VTK-HDF 输出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湍流扩展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SA、Wilcox k-ω、SST k-ω、Realizable k-ε；分离式输运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" y="5084064"/>
            <a:ext cx="11009376" cy="5852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7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验证：测试源码含 35 个核心 / 时间 / 湍流 / 并行用例；历史 MPI 1/2/4/8 进程测试通过。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5733288"/>
            <a:ext cx="11009376" cy="49377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7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边界：尚无变密度、重力分层、自适应 β²；BDF2 仅接通 Laminar，重启历史尚未接通。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035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800" b="1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推导 1：不可压方程 → 人工伪时间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492240"/>
            <a:ext cx="1051560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依据：ACM.cpp；状态中的 p 为物理压力变量，不是密度或能量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6492240"/>
            <a:ext cx="59436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lnSpc>
                <a:spcPct val="113000"/>
              </a:lnSpc>
              <a:spcAft>
                <a:spcPts val="900"/>
              </a:spcAft>
            </a:pPr>
            <a:r>
              <a:rPr sz="1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2/10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69848"/>
            <a:ext cx="10972800" cy="4572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假设：ρ=ρ₀ 为常数；当前算例无重力、无能量方程；二维时 w=0。</a:t>
            </a:r>
          </a:p>
        </p:txBody>
      </p:sp>
      <p:pic>
        <p:nvPicPr>
          <p:cNvPr id="6" name="Picture 5" descr="eq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566" y="1755648"/>
            <a:ext cx="4656386" cy="594360"/>
          </a:xfrm>
          <a:prstGeom prst="rect">
            <a:avLst/>
          </a:prstGeom>
        </p:spPr>
      </p:pic>
      <p:pic>
        <p:nvPicPr>
          <p:cNvPr id="7" name="Picture 6" descr="eq-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11" y="2679192"/>
            <a:ext cx="5788264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3675887"/>
            <a:ext cx="10972800" cy="5120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压力没有独立物理演化方程；引入人工伪时间 τ，松弛不可压约束：</a:t>
            </a:r>
          </a:p>
        </p:txBody>
      </p:sp>
      <p:pic>
        <p:nvPicPr>
          <p:cNvPr id="9" name="Picture 8" descr="eq-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2961" y="4425696"/>
            <a:ext cx="4979605" cy="640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568696"/>
            <a:ext cx="10972800" cy="66751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β² 控制数值上的人工波速。伪时间收敛后恢复 ∇·u=0，不引入真实可压缩密度波。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035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800" b="1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推导 2：Turkel 耦合与双时间方程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492240"/>
            <a:ext cx="1051560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依据：GammaLocal / GammaInvLocal / BDF2PhysicalMassMatrix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6492240"/>
            <a:ext cx="59436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lnSpc>
                <a:spcPct val="113000"/>
              </a:lnSpc>
              <a:spcAft>
                <a:spcPts val="900"/>
              </a:spcAft>
            </a:pPr>
            <a:r>
              <a:rPr sz="1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3/10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78992"/>
            <a:ext cx="10972800" cy="4754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1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将压力伪时间导数耦合到动量方程：γₜ=1+α。</a:t>
            </a:r>
          </a:p>
        </p:txBody>
      </p:sp>
      <p:pic>
        <p:nvPicPr>
          <p:cNvPr id="6" name="Picture 5" descr="eq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152" y="1783080"/>
            <a:ext cx="5371806" cy="184708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07224" y="1746504"/>
          <a:ext cx="3986783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3"/>
                <a:gridCol w="1920240"/>
              </a:tblGrid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当前系数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数值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β² / α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4.0 / 0.5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γₜ / ρ₀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1.5 / 1.0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1/β²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0.25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γₜ/β²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0.375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8" name="Picture 7" descr="eq-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8292" y="4014215"/>
            <a:ext cx="5974080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175504"/>
            <a:ext cx="10972800" cy="10149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R(Q) 是有限体积空间残差；t 是物理时间，τ 是每个物理步内的人工迭代时间。</a:t>
            </a:r>
          </a:p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M 的压力分量为 0：BDF2 只对速度做物理时间差分。人工波速标度 √(β²/ρ₀)=2。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035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800" b="1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推导 3：特征波 → 有限体积残差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492240"/>
            <a:ext cx="1051560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依据：法向物理通量、Γ⁻¹Aₙ 特征系统及 ACMEvaluator 残差组装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6492240"/>
            <a:ext cx="59436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lnSpc>
                <a:spcPct val="113000"/>
              </a:lnSpc>
              <a:spcAft>
                <a:spcPts val="900"/>
              </a:spcAft>
            </a:pPr>
            <a:r>
              <a:rPr sz="1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4/10</a:t>
            </a:r>
          </a:p>
        </p:txBody>
      </p:sp>
      <p:pic>
        <p:nvPicPr>
          <p:cNvPr id="5" name="Picture 4" descr="eq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690" y="1170432"/>
            <a:ext cx="5299283" cy="1261872"/>
          </a:xfrm>
          <a:prstGeom prst="rect">
            <a:avLst/>
          </a:prstGeom>
        </p:spPr>
      </p:pic>
      <p:pic>
        <p:nvPicPr>
          <p:cNvPr id="6" name="Picture 5" descr="eq-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8040" y="2807208"/>
            <a:ext cx="5652870" cy="585216"/>
          </a:xfrm>
          <a:prstGeom prst="rect">
            <a:avLst/>
          </a:prstGeom>
        </p:spPr>
      </p:pic>
      <p:pic>
        <p:nvPicPr>
          <p:cNvPr id="7" name="Picture 6" descr="eq-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3464" y="3767328"/>
            <a:ext cx="3462022" cy="7040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956048"/>
            <a:ext cx="10972800" cy="11978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对流通量：Roe / Rusanov；Roe 使用熵修正，当前 entropyFixRatio=0.05。</a:t>
            </a:r>
          </a:p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黏性通量：修正面梯度 + 面求积；内部面通量对相邻单元等量反号。</a:t>
            </a:r>
          </a:p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流程：单元均值 → 重构 → 限制 → 面状态 / 梯度 → 数值通量 → R(Q)。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035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800" b="1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空间模块：重构方法与限制器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492240"/>
            <a:ext cx="1051560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依据：ACM 直接枚举与 CFV 变分重构；精度阶数仍需网格收敛验证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6492240"/>
            <a:ext cx="59436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lnSpc>
                <a:spcPct val="113000"/>
              </a:lnSpc>
              <a:spcAft>
                <a:spcPts val="900"/>
              </a:spcAft>
            </a:pPr>
            <a:r>
              <a:rPr sz="1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5/10</a:t>
            </a:r>
          </a:p>
        </p:txBody>
      </p:sp>
      <p:pic>
        <p:nvPicPr>
          <p:cNvPr id="5" name="Picture 4" descr="eq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751" y="1088136"/>
            <a:ext cx="3649448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911095"/>
            <a:ext cx="5303520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100" b="1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重构路径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18504" y="1911095"/>
            <a:ext cx="5303520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100" b="1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限制器路径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5216" y="2423160"/>
          <a:ext cx="5266944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3364992"/>
              </a:tblGrid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5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方法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5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实现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FirstOrder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单元分片常数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GreenGauss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直接梯度 / 线性重构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Variational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复用 CFV；可设多项式次数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18504" y="2423160"/>
          <a:ext cx="5285232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456432"/>
              </a:tblGrid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5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方法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5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实现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LocalExtrema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邻域极值约束，θ∈[0,1]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WBAP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加权多项式限制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CWBAP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逐阶加权多项式限制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4360" y="4919472"/>
            <a:ext cx="10972800" cy="1280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8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当前算例：Variational + maxOrder=2（二次多项式）+ CWBAP；每次残差做 3 次重构迭代。</a:t>
            </a:r>
          </a:p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8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WBAP / CWBAP 只配合 Variational，并使用 ACM 四变量特征变换；二维 / 三维均有路径。</a:t>
            </a:r>
          </a:p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8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二次多项式在光滑充分收敛条件下具备名义三阶潜力，不等于本算例已验证三阶精度。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035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800" b="1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时间模块：稳态伪时间与 BDF2 物理时间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492240"/>
            <a:ext cx="1051560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依据：ACMTime、ACMBDF2、分布式 LU-SGS / GMRES 驱动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6492240"/>
            <a:ext cx="59436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lnSpc>
                <a:spcPct val="113000"/>
              </a:lnSpc>
              <a:spcAft>
                <a:spcPts val="900"/>
              </a:spcAft>
            </a:pPr>
            <a:r>
              <a:rPr sz="1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6/10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5216" y="1124712"/>
          <a:ext cx="11018520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915400"/>
              </a:tblGrid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模式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已实现格式 / 求解器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稳态伪时间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SSPRK3；隐式 Euler + 块 Jacobi / LU-SGS / GMRES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非定常物理时间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BDF2 双时间 + LU-SGS 或 GMRES；首步自动后向 Euler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6" name="Picture 5" descr="eq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113" y="2770632"/>
            <a:ext cx="3817012" cy="621792"/>
          </a:xfrm>
          <a:prstGeom prst="rect">
            <a:avLst/>
          </a:prstGeom>
        </p:spPr>
      </p:pic>
      <p:pic>
        <p:nvPicPr>
          <p:cNvPr id="7" name="Picture 6" descr="eq-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6324" y="3721608"/>
            <a:ext cx="6205446" cy="6492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855464"/>
            <a:ext cx="10972800" cy="1362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8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Dᵏ = 空间残差 − BDF 物理时间项；首步 a₀=1，之后 a₀=3/2；M=diag(1,1,1,0)。</a:t>
            </a:r>
          </a:p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8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隐式算子使用冻结的一阶近似面雅可比；非线性残差仍保留高阶重构，并非完整高阶 Newton。</a:t>
            </a:r>
          </a:p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8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当前 BDF2：固定 Δt、仅 Laminar。达到内迭代上限仍提交该物理步，收敛标志另行报告。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035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800" b="1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二维圆柱 Re=3900：算例参数与运行版本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492240"/>
            <a:ext cx="1051560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当前 JSON 与归档 4000 步结果分列；后两页视频只使用归档结果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6492240"/>
            <a:ext cx="59436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lnSpc>
                <a:spcPct val="113000"/>
              </a:lnSpc>
              <a:spcAft>
                <a:spcPts val="900"/>
              </a:spcAft>
            </a:pPr>
            <a:r>
              <a:rPr sz="1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7/10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78992"/>
            <a:ext cx="5303520" cy="40233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100" b="1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无量纲物理参数与边界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78992"/>
            <a:ext cx="5303520" cy="40233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100" b="1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完成结果 / 当前重算配置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5216" y="1682496"/>
          <a:ext cx="5294376" cy="3026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3163824"/>
              </a:tblGrid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参数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设置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D / U∞ / ρ₀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1 / 1 / 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Re = ρ₀U∞D / μ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3900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动力黏度 μ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2.56410256×10⁻⁴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远场压力 / 重力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p∞=0（表压）/ 无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β² / α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4 / 0.5（固定）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边界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WALL 无滑移；FAR 特征远场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682496"/>
          <a:ext cx="5276087" cy="3026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9384"/>
                <a:gridCol w="1435608"/>
                <a:gridCol w="1911095"/>
              </a:tblGrid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参数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已完成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当前 JSON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物理步数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4000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10000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Δt / 终止 t*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0.01 / 40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0.01 / 100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输出间隔 / 场数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100 / 41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50 / 201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MPI 进程数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16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32（启动命令）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CFL / 内迭代上限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20 / 15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20 / 15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Δτ 上限 / 松弛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0.005 / 0.7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0.005 / 0.7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084064"/>
            <a:ext cx="10972800" cy="1042415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网格：CylinderA1.cgns，23,791 个单元，80 条圆柱壁面边；D=1，现有网格未做本次加密。</a:t>
            </a:r>
          </a:p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重构：二次 Variational + CWBAP，面求积 intOrder=4；初值 (u,v,w,p)=(1,0.001,0,0)。</a:t>
            </a:r>
          </a:p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物理时间采用 BDF2DualTimeLUSGS；每个 MPI 进程使用 1 个 OpenMP 线程。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035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800" b="1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已完成结果：流场数据与内迭代缺陷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492240"/>
            <a:ext cx="1051560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数据：归档第 4000 步 VTK-HDF 与 4000 行运行日志；统计均为无量纲单元中心值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6492240"/>
            <a:ext cx="59436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lnSpc>
                <a:spcPct val="113000"/>
              </a:lnSpc>
              <a:spcAft>
                <a:spcPts val="900"/>
              </a:spcAft>
            </a:pPr>
            <a:r>
              <a:rPr sz="1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8/10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88136"/>
            <a:ext cx="5303520" cy="39319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100" b="1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第 4000 步，t*=40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5352" y="1088136"/>
            <a:ext cx="5394960" cy="39319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100" b="1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每个物理步：内迭代前 / 后缺陷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92224"/>
          <a:ext cx="4846320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371600"/>
                <a:gridCol w="1371600"/>
              </a:tblGrid>
              <a:tr h="4297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变量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最小值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最大值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ρ（配置常数）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u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-0.79211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1.8179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v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-1.3638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1.326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|V|=√(u²+v²)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1.65e-4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1.8377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p（表压）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-1.9703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0.51864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 w="5000">
                      <a:solidFill>
                        <a:srgbClr val="000000"/>
                      </a:solidFill>
                    </a:lnL>
                    <a:lnR w="5000">
                      <a:solidFill>
                        <a:srgbClr val="000000"/>
                      </a:solidFill>
                    </a:lnR>
                    <a:lnT w="5000">
                      <a:solidFill>
                        <a:srgbClr val="000000"/>
                      </a:solidFill>
                    </a:lnT>
                    <a:lnB w="50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8" name="Picture 7" descr="residual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649" y="1719072"/>
            <a:ext cx="5090868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001768"/>
            <a:ext cx="10972800" cy="11978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8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原生输出：Velocity（三分量）与 Pressure；ρ 不在输出场中，密度图按配置常数重建。</a:t>
            </a:r>
          </a:p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8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已核验：41 场、0–4000 步无缺帧，全部数值有限。末步缺陷 0.3085 → 0.01065。</a:t>
            </a:r>
          </a:p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8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各步达到 15 次内迭代上限，未达到 10⁻⁸ 阈值；本结果不等同于严格收敛或网格无关验证。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035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800" b="1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计算过程视频：速度大小与流向速度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492240"/>
            <a:ext cx="1051560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视频已嵌入：0–4000 步，t*=0–40；PowerPoint 放映模式点击画面播放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6492240"/>
            <a:ext cx="59436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lnSpc>
                <a:spcPct val="113000"/>
              </a:lnSpc>
              <a:spcAft>
                <a:spcPts val="900"/>
              </a:spcAft>
            </a:pPr>
            <a:r>
              <a:rPr sz="1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9/10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33856"/>
            <a:ext cx="5349240" cy="40233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200" b="1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速度大小 |V|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8776" y="1133856"/>
            <a:ext cx="5349240" cy="40233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200" b="1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流向速度 u</a:t>
            </a:r>
          </a:p>
        </p:txBody>
      </p:sp>
      <p:pic>
        <p:nvPicPr>
          <p:cNvPr id="7" name="CylinderA1_Re3900_BDF2_velocity_contours_steps_0000_4000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57784" y="1819656"/>
            <a:ext cx="5486400" cy="3086100"/>
          </a:xfrm>
          <a:prstGeom prst="rect">
            <a:avLst/>
          </a:prstGeom>
        </p:spPr>
      </p:pic>
      <p:pic>
        <p:nvPicPr>
          <p:cNvPr id="8" name="CylinderA1_Re3900_BDF2_u_contours_steps_0000_4000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163056" y="1819656"/>
            <a:ext cx="5486400" cy="3086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312664"/>
            <a:ext cx="10972800" cy="8321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保留原流场色标与等值线，便于观察涡脱落、回流区和尾迹发展。</a:t>
            </a:r>
          </a:p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每 100 步一个原始计算帧；12 fps 播放，末帧停留 1 秒。未生成或插值额外流场。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035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800" b="1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计算过程视频：压力与常密度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492240"/>
            <a:ext cx="1051560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归档 Re=3900 二维常密度结果；完整配置、数据来源与方法定位见各页备注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6492240"/>
            <a:ext cx="59436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lnSpc>
                <a:spcPct val="113000"/>
              </a:lnSpc>
              <a:spcAft>
                <a:spcPts val="900"/>
              </a:spcAft>
            </a:pPr>
            <a:r>
              <a:rPr sz="1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10/10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33856"/>
            <a:ext cx="5349240" cy="40233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200" b="1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压力 p（表压）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8776" y="1133856"/>
            <a:ext cx="5349240" cy="40233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2200" b="1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密度 ρ=1（模型常数）</a:t>
            </a:r>
          </a:p>
        </p:txBody>
      </p:sp>
      <p:pic>
        <p:nvPicPr>
          <p:cNvPr id="7" name="CylinderA1_Re3900_BDF2_pressure_contours_steps_0000_4000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57784" y="1819656"/>
            <a:ext cx="5486400" cy="3086100"/>
          </a:xfrm>
          <a:prstGeom prst="rect">
            <a:avLst/>
          </a:prstGeom>
        </p:spPr>
      </p:pic>
      <p:pic>
        <p:nvPicPr>
          <p:cNvPr id="8" name="CylinderA1_Re3900_BDF2_density_contours_steps_0000_4000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163056" y="1819656"/>
            <a:ext cx="5486400" cy="3086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312664"/>
            <a:ext cx="10972800" cy="8778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压力随涡结构演化；密度没有输运方程，因此密度画面保持均匀，不存在真实密度等值线。</a:t>
            </a:r>
          </a:p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定位：用于模块验证与二维非定常可视化；定量结论还需内迭代、网格与时间步独立性检查。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常密度 ACM：模块、推导与圆柱绕流结果</dc:title>
  <dc:subject>DNDSR ACM implementation, numerical methods and verified case data</dc:subject>
  <dc:creator>DNDSR</dc:creator>
  <cp:keywords>ACM, BDF2, CFV, CWBAP, Re3900, cylinder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